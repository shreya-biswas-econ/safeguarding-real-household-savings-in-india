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DM Serif Display" charset="1" panose="00000000000000000000"/>
      <p:regular r:id="rId13"/>
    </p:embeddedFont>
    <p:embeddedFont>
      <p:font typeface="Open Sauce" charset="1" panose="00000500000000000000"/>
      <p:regular r:id="rId14"/>
    </p:embeddedFont>
    <p:embeddedFont>
      <p:font typeface="Times New Roman" charset="1" panose="02020603050405020304"/>
      <p:regular r:id="rId15"/>
    </p:embeddedFont>
    <p:embeddedFont>
      <p:font typeface="Times New Roman Bold" charset="1" panose="02020803070505020304"/>
      <p:regular r:id="rId16"/>
    </p:embeddedFont>
    <p:embeddedFont>
      <p:font typeface="Open Sauce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w="38100" cap="sq">
            <a:solidFill>
              <a:srgbClr val="000000">
                <a:alpha val="49804"/>
              </a:srgbClr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459484" y="414433"/>
            <a:ext cx="17369033" cy="334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40"/>
              </a:lnSpc>
            </a:pPr>
            <a:r>
              <a:rPr lang="en-US" sz="96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Safeguarding Real Household Savings in India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947160"/>
            <a:ext cx="16612414" cy="231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 spc="32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TIME-SERIES ANALYSIS OF FIXED DEPOSIT RETURNS, INFLATION DYNAMICS, AND WEALTH EROSION RISK</a:t>
            </a:r>
          </a:p>
          <a:p>
            <a:pPr algn="ctr">
              <a:lnSpc>
                <a:spcPts val="4619"/>
              </a:lnSpc>
            </a:pPr>
          </a:p>
          <a:p>
            <a:pPr algn="ctr">
              <a:lnSpc>
                <a:spcPts val="461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046151" y="7315015"/>
            <a:ext cx="5100085" cy="166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SHREYA BISWAS</a:t>
            </a:r>
          </a:p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 ECONOMICS </a:t>
            </a:r>
          </a:p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MOUNT CARMEL COLLEGE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08100" y="7315015"/>
            <a:ext cx="6300684" cy="2229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ARITRA PAUL</a:t>
            </a:r>
          </a:p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MSC ECONOMICS</a:t>
            </a:r>
          </a:p>
          <a:p>
            <a:pPr algn="l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WEST BENGAL STATE UNIVERSITY</a:t>
            </a:r>
          </a:p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90173" y="5854700"/>
            <a:ext cx="5100085" cy="66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39"/>
              </a:lnSpc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GUIDE: RAJU MAITI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829596" y="428942"/>
            <a:ext cx="946407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Objective &amp; Background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32178"/>
            <a:ext cx="2537740" cy="48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20586" y="2094078"/>
            <a:ext cx="11493542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analyse the impact of inflation on real household savings</a:t>
            </a:r>
          </a:p>
          <a:p>
            <a:pPr algn="l" marL="647698" indent="-323849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evaluate whether fixed deposits protect purchasing power</a:t>
            </a:r>
          </a:p>
          <a:p>
            <a:pPr algn="l" marL="647698" indent="-323849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assess gold as an alternative hedge</a:t>
            </a:r>
          </a:p>
          <a:p>
            <a:pPr algn="l" marL="0" indent="0" lvl="0">
              <a:lnSpc>
                <a:spcPts val="47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656455"/>
            <a:ext cx="2537740" cy="48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BACKGROUND: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20586" y="4618355"/>
            <a:ext cx="11493542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Inflation reduces the real value of money over time</a:t>
            </a:r>
          </a:p>
          <a:p>
            <a:pPr algn="l" marL="647698" indent="-323849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Households rely heavily on fixed deposits</a:t>
            </a:r>
          </a:p>
          <a:p>
            <a:pPr algn="l" marL="647698" indent="-323849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real returns is crucial in an inflationary economy</a:t>
            </a:r>
          </a:p>
          <a:p>
            <a:pPr algn="l" marL="0" indent="0" lvl="0">
              <a:lnSpc>
                <a:spcPts val="47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181850"/>
            <a:ext cx="2537740" cy="48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HYPOTHESIS: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18794" y="7143750"/>
            <a:ext cx="11493542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H₀: Inflation has no significant impact</a:t>
            </a:r>
          </a:p>
          <a:p>
            <a:pPr algn="l">
              <a:lnSpc>
                <a:spcPts val="4799"/>
              </a:lnSpc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H₁: Inflation negatively affects real savings</a:t>
            </a:r>
          </a:p>
          <a:p>
            <a:pPr algn="l" marL="0" indent="0" lvl="0">
              <a:lnSpc>
                <a:spcPts val="47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829596" y="428942"/>
            <a:ext cx="946407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 &amp; 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0492" y="2132178"/>
            <a:ext cx="3046562" cy="48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SOURCES: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20586" y="2094078"/>
            <a:ext cx="11493542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RBI → FD Rate (WADTDR), Exchange Rate</a:t>
            </a:r>
          </a:p>
          <a:p>
            <a:pPr algn="l" marL="647698" indent="-323849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MOSPI → CPI (All, Food, Fuel, Housing)</a:t>
            </a:r>
          </a:p>
          <a:p>
            <a:pPr algn="l" marL="647698" indent="-323849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Gold Prices → RBI / World Gold Council</a:t>
            </a:r>
          </a:p>
          <a:p>
            <a:pPr algn="l" marL="0" indent="0" lvl="0">
              <a:lnSpc>
                <a:spcPts val="47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30492" y="4656455"/>
            <a:ext cx="2891886" cy="48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METHODOLOGY: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20586" y="4618355"/>
            <a:ext cx="11493542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Inflation = Year-on-year % change in CPI</a:t>
            </a:r>
          </a:p>
          <a:p>
            <a:pPr algn="l" marL="647698" indent="-323849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Returns = Nominal Returns – Inflation</a:t>
            </a:r>
          </a:p>
          <a:p>
            <a:pPr algn="l" marL="0" indent="0" lvl="0">
              <a:lnSpc>
                <a:spcPts val="47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08725" y="6604318"/>
            <a:ext cx="3290094" cy="48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599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TECHNIQUES USED: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20586" y="5877232"/>
            <a:ext cx="11493542" cy="418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</a:p>
          <a:p>
            <a:pPr algn="l" marL="647698" indent="-323849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Statistics</a:t>
            </a:r>
          </a:p>
          <a:p>
            <a:pPr algn="l" marL="647698" indent="-323849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Correlation Analysis</a:t>
            </a:r>
          </a:p>
          <a:p>
            <a:pPr algn="l" marL="647698" indent="-323849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ADF Test (Stationarity)</a:t>
            </a:r>
          </a:p>
          <a:p>
            <a:pPr algn="l" marL="647698" indent="-323849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Granger Causality</a:t>
            </a:r>
          </a:p>
          <a:p>
            <a:pPr algn="l" marL="647698" indent="-323849" lvl="1">
              <a:lnSpc>
                <a:spcPts val="47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Cointegration &amp; VECM</a:t>
            </a:r>
          </a:p>
          <a:p>
            <a:pPr algn="l" marL="0" indent="0" lvl="0">
              <a:lnSpc>
                <a:spcPts val="47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829596" y="115571"/>
            <a:ext cx="13202810" cy="913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Descriptive &amp; Correlation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2950" y="1053702"/>
            <a:ext cx="4307555" cy="55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899" u="sng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Descriptive Findings: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3078" y="1290058"/>
            <a:ext cx="8740922" cy="6493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</a:pP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Average Inflation: 5.70%</a:t>
            </a:r>
          </a:p>
          <a:p>
            <a:pPr algn="l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</a:t>
            </a: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Indicates a sustained rise in the cost of living over the              study period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Real FD Return: 2.09%</a:t>
            </a:r>
          </a:p>
          <a:p>
            <a:pPr algn="l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Very low compared to inflation → limited real wealth creation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Real Gold Return: 3.29%</a:t>
            </a:r>
          </a:p>
          <a:p>
            <a:pPr algn="l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→ Higher than FD → relatively better protection against inflation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FD Volatility (SD: 3.80)**</a:t>
            </a:r>
          </a:p>
          <a:p>
            <a:pPr algn="l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High variability suggests uncertainty in real returns despite stable nominal rates</a:t>
            </a:r>
          </a:p>
          <a:p>
            <a:pPr algn="l" marL="0" indent="0" lvl="0">
              <a:lnSpc>
                <a:spcPts val="368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384140" y="1053702"/>
            <a:ext cx="5856143" cy="171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899" u="sng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Correlation Analysis:</a:t>
            </a:r>
          </a:p>
          <a:p>
            <a:pPr algn="l">
              <a:lnSpc>
                <a:spcPts val="4639"/>
              </a:lnSpc>
            </a:pPr>
          </a:p>
          <a:p>
            <a:pPr algn="l">
              <a:lnSpc>
                <a:spcPts val="463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0" y="7527291"/>
            <a:ext cx="9869179" cy="275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gap between inflation and FD returns shows that FDs barely preserve purchasing power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Higher gold returns indicate a stronger ability to hedge inflation risk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High volatility in FD returns makes them unreliable in real terms</a:t>
            </a:r>
          </a:p>
          <a:p>
            <a:pPr algn="l" marL="0" indent="0" lvl="0">
              <a:lnSpc>
                <a:spcPts val="36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035094" y="1683703"/>
            <a:ext cx="8740922" cy="369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Inflation &amp; Real FD: -0.19</a:t>
            </a:r>
          </a:p>
          <a:p>
            <a:pPr algn="l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</a:t>
            </a: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Increase in inflation reduces real FD returns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Inflation &amp; Gold: -0.51</a:t>
            </a:r>
          </a:p>
          <a:p>
            <a:pPr algn="l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→  Gold reacts more strongly to inflation changes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FD &amp; Gold: +0.58</a:t>
            </a:r>
          </a:p>
          <a:p>
            <a:pPr algn="l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→ Both influenced by broader macroeconomic</a:t>
            </a:r>
          </a:p>
          <a:p>
            <a:pPr algn="l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  conditions</a:t>
            </a:r>
          </a:p>
          <a:p>
            <a:pPr algn="l" marL="0" indent="0" lvl="0">
              <a:lnSpc>
                <a:spcPts val="368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035094" y="5067300"/>
            <a:ext cx="8232100" cy="2292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Weak correlation between inflation and FD suggests poor adjustment of interest rates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Stronger relationship with gold shows it is more responsive to inflation dynamics</a:t>
            </a:r>
          </a:p>
          <a:p>
            <a:pPr algn="l" marL="0" indent="0" lvl="0">
              <a:lnSpc>
                <a:spcPts val="368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829596" y="115571"/>
            <a:ext cx="13202810" cy="913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Econometric Results &amp; Interpretation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2950" y="1053702"/>
            <a:ext cx="4307555" cy="55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899" u="sng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ADF Test (Stationarity):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3078" y="1687433"/>
            <a:ext cx="8740922" cy="6026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Inflation: Non-stationary (p = 0.71)</a:t>
            </a:r>
          </a:p>
          <a:p>
            <a:pPr algn="l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→ Inflation shocks persist over time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Real FD Return: Borderline (p = 0.10)</a:t>
            </a:r>
          </a:p>
          <a:p>
            <a:pPr algn="l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→ Unstable and influenced by long-term trends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Real Gold Return: Stationary (p = 0.01)</a:t>
            </a:r>
          </a:p>
          <a:p>
            <a:pPr algn="l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</a:t>
            </a: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→ Returns are stable and revert to mean</a:t>
            </a:r>
          </a:p>
          <a:p>
            <a:pPr algn="l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Interpretation: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FD returns lack stability → not reliable for long-term wealth preservation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Gold shows stability → better suited as a hedge asset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Persistent inflation increases risk of long-term savings erosion</a:t>
            </a:r>
          </a:p>
          <a:p>
            <a:pPr algn="l" marL="0" indent="0" lvl="0">
              <a:lnSpc>
                <a:spcPts val="368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764704" y="1053702"/>
            <a:ext cx="5856143" cy="55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899" u="sng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VECM (Long-Run Dynamics):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6272" y="1687433"/>
            <a:ext cx="8740922" cy="2292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Significant error correction term → long-run relationship exists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FD returns depend on past values → slow adjustment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Gold responds to macro variables → dynamic adjustment</a:t>
            </a:r>
          </a:p>
          <a:p>
            <a:pPr algn="l">
              <a:lnSpc>
                <a:spcPts val="36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526272" y="4662725"/>
            <a:ext cx="8232100" cy="275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Fixed deposits are slow, rigid, and weakly responsive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Gold is adaptive, stable, and more efficient in preserving value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system shows weak short-run adjustment but stable long-run relationships</a:t>
            </a:r>
          </a:p>
          <a:p>
            <a:pPr algn="l" marL="0" indent="0" lvl="0">
              <a:lnSpc>
                <a:spcPts val="368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34402" y="7236459"/>
            <a:ext cx="4307555" cy="1138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899" u="sng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Granger Causality:</a:t>
            </a:r>
          </a:p>
          <a:p>
            <a:pPr algn="l">
              <a:lnSpc>
                <a:spcPts val="463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03078" y="7994016"/>
            <a:ext cx="8740922" cy="2292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Inflation → FD: No causality</a:t>
            </a:r>
          </a:p>
          <a:p>
            <a:pPr algn="l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→ FD rates do not adjust quickly to inflation</a:t>
            </a:r>
          </a:p>
          <a:p>
            <a:pPr algn="l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USD/INR → Inflation: No causality</a:t>
            </a:r>
          </a:p>
          <a:p>
            <a:pPr algn="l">
              <a:lnSpc>
                <a:spcPts val="3680"/>
              </a:lnSpc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→ Weak short-run transmission from exchange rate</a:t>
            </a:r>
          </a:p>
          <a:p>
            <a:pPr algn="l" marL="0" indent="0" lvl="0">
              <a:lnSpc>
                <a:spcPts val="368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764704" y="3755072"/>
            <a:ext cx="5856143" cy="171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899" u="sng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Overall Interpretation:</a:t>
            </a:r>
          </a:p>
          <a:p>
            <a:pPr algn="l">
              <a:lnSpc>
                <a:spcPts val="4639"/>
              </a:lnSpc>
            </a:pPr>
          </a:p>
          <a:p>
            <a:pPr algn="l">
              <a:lnSpc>
                <a:spcPts val="463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829596" y="115571"/>
            <a:ext cx="13202810" cy="913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</a:pPr>
            <a:r>
              <a:rPr lang="en-US" sz="53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Conclusion &amp; Implications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2950" y="1053702"/>
            <a:ext cx="4307555" cy="55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899" u="sng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571" y="1687433"/>
            <a:ext cx="17744857" cy="369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analysis clearly shows that fixed deposits do not consistently safeguard real household savings in an inflationary environment.</a:t>
            </a:r>
          </a:p>
          <a:p>
            <a:pPr algn="just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With average inflation at 5.70% and real FD returns at only 2.09%, the growth in savings remains limited in real terms.</a:t>
            </a:r>
          </a:p>
          <a:p>
            <a:pPr algn="just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high volatility and non-stationary nature of real FD returns further indicate that they are unstable and unreliable for long-term wealth preservation.</a:t>
            </a:r>
          </a:p>
          <a:p>
            <a:pPr algn="just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 contrast, gold demonstrates relatively better performance, with a higher average real return of 3.29% and evidence of stationarity, making it a more stable and responsive asset during inflationary periods.</a:t>
            </a:r>
          </a:p>
          <a:p>
            <a:pPr algn="just" marL="0" indent="0" lvl="0">
              <a:lnSpc>
                <a:spcPts val="368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792950" y="5039915"/>
            <a:ext cx="4307555" cy="55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899" u="sng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Insight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5660391"/>
            <a:ext cx="8142380" cy="462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Inflation, particularly food inflation, plays a crucial role in eroding household savings.</a:t>
            </a:r>
          </a:p>
          <a:p>
            <a:pPr algn="just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absence of causality between inflation and FD rates suggests weak responsiveness of interest rates, highlighting inefficiencies in monetary transmission.</a:t>
            </a:r>
          </a:p>
          <a:p>
            <a:pPr algn="just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presence of a long-run equilibrium relationship (VECM) indicates that while variables adjust over time, short-run adjustments remain slow and inadequate.</a:t>
            </a:r>
          </a:p>
          <a:p>
            <a:pPr algn="just" marL="0" indent="0" lvl="0">
              <a:lnSpc>
                <a:spcPts val="368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5039915"/>
            <a:ext cx="4307555" cy="55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899" u="sng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Implications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80250" y="5660391"/>
            <a:ext cx="9236179" cy="4159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Households should not rely solely on fixed deposits and must diversify their investment portfolios to protect purchasing power.</a:t>
            </a:r>
          </a:p>
          <a:p>
            <a:pPr algn="just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Policymakers need to:</a:t>
            </a:r>
          </a:p>
          <a:p>
            <a:pPr algn="just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Improve the responsiveness of interest rates to inflation</a:t>
            </a:r>
          </a:p>
          <a:p>
            <a:pPr algn="just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Focus on controlling food inflation, which has the largest impact on real savings</a:t>
            </a:r>
          </a:p>
          <a:p>
            <a:pPr algn="just" marL="496572" indent="-248286" lvl="1">
              <a:lnSpc>
                <a:spcPts val="368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Strengthen monetary transmission mechanisms</a:t>
            </a:r>
          </a:p>
          <a:p>
            <a:pPr algn="just" marL="0" indent="0" lvl="0">
              <a:lnSpc>
                <a:spcPts val="368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1899419"/>
            <a:ext cx="9316373" cy="500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DAHFbWubRDE</dc:identifier>
  <dcterms:modified xsi:type="dcterms:W3CDTF">2011-08-01T06:04:30Z</dcterms:modified>
  <cp:revision>1</cp:revision>
  <dc:title>Safeguarding Real Household Savings in India</dc:title>
</cp:coreProperties>
</file>